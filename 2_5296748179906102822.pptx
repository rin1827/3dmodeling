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Nuni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bold.fntdata"/><Relationship Id="rId11" Type="http://schemas.openxmlformats.org/officeDocument/2006/relationships/slide" Target="slides/slide6.xml"/><Relationship Id="rId22" Type="http://schemas.openxmlformats.org/officeDocument/2006/relationships/font" Target="fonts/Nunito-boldItalic.fntdata"/><Relationship Id="rId10" Type="http://schemas.openxmlformats.org/officeDocument/2006/relationships/slide" Target="slides/slide5.xml"/><Relationship Id="rId21" Type="http://schemas.openxmlformats.org/officeDocument/2006/relationships/font" Target="fonts/Nunito-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Nunito-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0" name="Shape 130"/>
        <p:cNvGrpSpPr/>
        <p:nvPr/>
      </p:nvGrpSpPr>
      <p:grpSpPr>
        <a:xfrm>
          <a:off x="0" y="0"/>
          <a:ext cx="0" cy="0"/>
          <a:chOff x="0" y="0"/>
          <a:chExt cx="0" cy="0"/>
        </a:xfrm>
      </p:grpSpPr>
      <p:sp>
        <p:nvSpPr>
          <p:cNvPr id="131" name="Google Shape;131;g768a36b34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768a36b3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7" name="Shape 137"/>
        <p:cNvGrpSpPr/>
        <p:nvPr/>
      </p:nvGrpSpPr>
      <p:grpSpPr>
        <a:xfrm>
          <a:off x="0" y="0"/>
          <a:ext cx="0" cy="0"/>
          <a:chOff x="0" y="0"/>
          <a:chExt cx="0" cy="0"/>
        </a:xfrm>
      </p:grpSpPr>
      <p:sp>
        <p:nvSpPr>
          <p:cNvPr id="138" name="Google Shape;138;g768a36b34c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768a36b34c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4" name="Shape 144"/>
        <p:cNvGrpSpPr/>
        <p:nvPr/>
      </p:nvGrpSpPr>
      <p:grpSpPr>
        <a:xfrm>
          <a:off x="0" y="0"/>
          <a:ext cx="0" cy="0"/>
          <a:chOff x="0" y="0"/>
          <a:chExt cx="0" cy="0"/>
        </a:xfrm>
      </p:grpSpPr>
      <p:sp>
        <p:nvSpPr>
          <p:cNvPr id="145" name="Google Shape;145;g768a36b34c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768a36b34c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1" name="Shape 151"/>
        <p:cNvGrpSpPr/>
        <p:nvPr/>
      </p:nvGrpSpPr>
      <p:grpSpPr>
        <a:xfrm>
          <a:off x="0" y="0"/>
          <a:ext cx="0" cy="0"/>
          <a:chOff x="0" y="0"/>
          <a:chExt cx="0" cy="0"/>
        </a:xfrm>
      </p:grpSpPr>
      <p:sp>
        <p:nvSpPr>
          <p:cNvPr id="152" name="Google Shape;152;g768a36b34c_2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768a36b34c_2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8" name="Shape 158"/>
        <p:cNvGrpSpPr/>
        <p:nvPr/>
      </p:nvGrpSpPr>
      <p:grpSpPr>
        <a:xfrm>
          <a:off x="0" y="0"/>
          <a:ext cx="0" cy="0"/>
          <a:chOff x="0" y="0"/>
          <a:chExt cx="0" cy="0"/>
        </a:xfrm>
      </p:grpSpPr>
      <p:sp>
        <p:nvSpPr>
          <p:cNvPr id="159" name="Google Shape;159;g768a36b34c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768a36b34c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5" name="Shape 165"/>
        <p:cNvGrpSpPr/>
        <p:nvPr/>
      </p:nvGrpSpPr>
      <p:grpSpPr>
        <a:xfrm>
          <a:off x="0" y="0"/>
          <a:ext cx="0" cy="0"/>
          <a:chOff x="0" y="0"/>
          <a:chExt cx="0" cy="0"/>
        </a:xfrm>
      </p:grpSpPr>
      <p:sp>
        <p:nvSpPr>
          <p:cNvPr id="166" name="Google Shape;166;g768a36b34c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768a36b34c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2" name="Shape 172"/>
        <p:cNvGrpSpPr/>
        <p:nvPr/>
      </p:nvGrpSpPr>
      <p:grpSpPr>
        <a:xfrm>
          <a:off x="0" y="0"/>
          <a:ext cx="0" cy="0"/>
          <a:chOff x="0" y="0"/>
          <a:chExt cx="0" cy="0"/>
        </a:xfrm>
      </p:grpSpPr>
      <p:sp>
        <p:nvSpPr>
          <p:cNvPr id="173" name="Google Shape;173;g768a36b34c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768a36b34c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9" name="Shape 179"/>
        <p:cNvGrpSpPr/>
        <p:nvPr/>
      </p:nvGrpSpPr>
      <p:grpSpPr>
        <a:xfrm>
          <a:off x="0" y="0"/>
          <a:ext cx="0" cy="0"/>
          <a:chOff x="0" y="0"/>
          <a:chExt cx="0" cy="0"/>
        </a:xfrm>
      </p:grpSpPr>
      <p:sp>
        <p:nvSpPr>
          <p:cNvPr id="180" name="Google Shape;180;g768a36b34c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768a36b34c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6" name="Shape 186"/>
        <p:cNvGrpSpPr/>
        <p:nvPr/>
      </p:nvGrpSpPr>
      <p:grpSpPr>
        <a:xfrm>
          <a:off x="0" y="0"/>
          <a:ext cx="0" cy="0"/>
          <a:chOff x="0" y="0"/>
          <a:chExt cx="0" cy="0"/>
        </a:xfrm>
      </p:grpSpPr>
      <p:sp>
        <p:nvSpPr>
          <p:cNvPr id="187" name="Google Shape;187;g768a36b34c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768a36b34c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3" name="Shape 193"/>
        <p:cNvGrpSpPr/>
        <p:nvPr/>
      </p:nvGrpSpPr>
      <p:grpSpPr>
        <a:xfrm>
          <a:off x="0" y="0"/>
          <a:ext cx="0" cy="0"/>
          <a:chOff x="0" y="0"/>
          <a:chExt cx="0" cy="0"/>
        </a:xfrm>
      </p:grpSpPr>
      <p:sp>
        <p:nvSpPr>
          <p:cNvPr id="194" name="Google Shape;194;g768a36b34c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768a36b34c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0" name="Shape 200"/>
        <p:cNvGrpSpPr/>
        <p:nvPr/>
      </p:nvGrpSpPr>
      <p:grpSpPr>
        <a:xfrm>
          <a:off x="0" y="0"/>
          <a:ext cx="0" cy="0"/>
          <a:chOff x="0" y="0"/>
          <a:chExt cx="0" cy="0"/>
        </a:xfrm>
      </p:grpSpPr>
      <p:sp>
        <p:nvSpPr>
          <p:cNvPr id="201" name="Google Shape;201;g768a36b34c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768a36b34c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7" name="Shape 207"/>
        <p:cNvGrpSpPr/>
        <p:nvPr/>
      </p:nvGrpSpPr>
      <p:grpSpPr>
        <a:xfrm>
          <a:off x="0" y="0"/>
          <a:ext cx="0" cy="0"/>
          <a:chOff x="0" y="0"/>
          <a:chExt cx="0" cy="0"/>
        </a:xfrm>
      </p:grpSpPr>
      <p:sp>
        <p:nvSpPr>
          <p:cNvPr id="208" name="Google Shape;208;g768a36b34c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768a36b34c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Autofit/>
          </a:bodyPr>
          <a:lstStyle>
            <a:lvl1pPr indent="-311150" lvl="0" marL="457200" algn="ctr">
              <a:spcBef>
                <a:spcPts val="0"/>
              </a:spcBef>
              <a:spcAft>
                <a:spcPts val="0"/>
              </a:spcAft>
              <a:buSzPts val="1300"/>
              <a:buChar char="●"/>
              <a:defRPr/>
            </a:lvl1pPr>
            <a:lvl2pPr indent="-298450" lvl="1" marL="914400" algn="ctr">
              <a:spcBef>
                <a:spcPts val="1600"/>
              </a:spcBef>
              <a:spcAft>
                <a:spcPts val="0"/>
              </a:spcAft>
              <a:buSzPts val="1100"/>
              <a:buChar char="○"/>
              <a:defRPr/>
            </a:lvl2pPr>
            <a:lvl3pPr indent="-298450" lvl="2" marL="1371600" algn="ctr">
              <a:spcBef>
                <a:spcPts val="1600"/>
              </a:spcBef>
              <a:spcAft>
                <a:spcPts val="0"/>
              </a:spcAft>
              <a:buSzPts val="1100"/>
              <a:buChar char="■"/>
              <a:defRPr/>
            </a:lvl3pPr>
            <a:lvl4pPr indent="-298450" lvl="3" marL="1828800" algn="ctr">
              <a:spcBef>
                <a:spcPts val="1600"/>
              </a:spcBef>
              <a:spcAft>
                <a:spcPts val="0"/>
              </a:spcAft>
              <a:buSzPts val="1100"/>
              <a:buChar char="●"/>
              <a:defRPr/>
            </a:lvl4pPr>
            <a:lvl5pPr indent="-298450" lvl="4" marL="2286000" algn="ctr">
              <a:spcBef>
                <a:spcPts val="1600"/>
              </a:spcBef>
              <a:spcAft>
                <a:spcPts val="0"/>
              </a:spcAft>
              <a:buSzPts val="1100"/>
              <a:buChar char="○"/>
              <a:defRPr/>
            </a:lvl5pPr>
            <a:lvl6pPr indent="-298450" lvl="5" marL="2743200" algn="ctr">
              <a:spcBef>
                <a:spcPts val="1600"/>
              </a:spcBef>
              <a:spcAft>
                <a:spcPts val="0"/>
              </a:spcAft>
              <a:buSzPts val="1100"/>
              <a:buChar char="■"/>
              <a:defRPr/>
            </a:lvl6pPr>
            <a:lvl7pPr indent="-298450" lvl="6" marL="3200400" algn="ctr">
              <a:spcBef>
                <a:spcPts val="1600"/>
              </a:spcBef>
              <a:spcAft>
                <a:spcPts val="0"/>
              </a:spcAft>
              <a:buSzPts val="1100"/>
              <a:buChar char="●"/>
              <a:defRPr/>
            </a:lvl7pPr>
            <a:lvl8pPr indent="-298450" lvl="7" marL="3657600" algn="ctr">
              <a:spcBef>
                <a:spcPts val="1600"/>
              </a:spcBef>
              <a:spcAft>
                <a:spcPts val="0"/>
              </a:spcAft>
              <a:buSzPts val="1100"/>
              <a:buChar char="○"/>
              <a:defRPr/>
            </a:lvl8pPr>
            <a:lvl9pPr indent="-298450" lvl="8" marL="4114800" algn="ctr">
              <a:spcBef>
                <a:spcPts val="1600"/>
              </a:spcBef>
              <a:spcAft>
                <a:spcPts val="160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1600"/>
              </a:spcBef>
              <a:spcAft>
                <a:spcPts val="160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en.wikipedia.org/wiki/State_of_Israel" TargetMode="External"/><Relationship Id="rId4" Type="http://schemas.openxmlformats.org/officeDocument/2006/relationships/hyperlink" Target="https://en.wikipedia.org/wiki/HTML5" TargetMode="External"/><Relationship Id="rId5" Type="http://schemas.openxmlformats.org/officeDocument/2006/relationships/hyperlink" Target="https://en.wikipedia.org/wiki/Mobile_phone" TargetMode="External"/><Relationship Id="rId6" Type="http://schemas.openxmlformats.org/officeDocument/2006/relationships/hyperlink" Target="https://en.wikipedia.org/wiki/Drag_and_drop" TargetMode="External"/><Relationship Id="rId7"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905000" y="1847700"/>
            <a:ext cx="6117000" cy="1448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ru"/>
              <a:t>Available sites for portfolio</a:t>
            </a:r>
            <a:r>
              <a:rPr lang="ru"/>
              <a:t> </a:t>
            </a:r>
            <a:endParaRPr/>
          </a:p>
        </p:txBody>
      </p:sp>
      <p:sp>
        <p:nvSpPr>
          <p:cNvPr id="129" name="Google Shape;129;p13"/>
          <p:cNvSpPr txBox="1"/>
          <p:nvPr>
            <p:ph idx="1" type="subTitle"/>
          </p:nvPr>
        </p:nvSpPr>
        <p:spPr>
          <a:xfrm>
            <a:off x="1858700" y="3413158"/>
            <a:ext cx="5361300" cy="52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2268175" y="756225"/>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WIX</a:t>
            </a:r>
            <a:endParaRPr/>
          </a:p>
        </p:txBody>
      </p:sp>
      <p:sp>
        <p:nvSpPr>
          <p:cNvPr id="135" name="Google Shape;135;p14"/>
          <p:cNvSpPr txBox="1"/>
          <p:nvPr>
            <p:ph idx="1" type="body"/>
          </p:nvPr>
        </p:nvSpPr>
        <p:spPr>
          <a:xfrm>
            <a:off x="819150" y="248847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ru" sz="1050">
                <a:solidFill>
                  <a:srgbClr val="222222"/>
                </a:solidFill>
                <a:highlight>
                  <a:srgbClr val="FFFFFF"/>
                </a:highlight>
                <a:latin typeface="Arial"/>
                <a:ea typeface="Arial"/>
                <a:cs typeface="Arial"/>
                <a:sym typeface="Arial"/>
              </a:rPr>
              <a:t>Wix.com Ltd.</a:t>
            </a:r>
            <a:r>
              <a:rPr lang="ru" sz="1050">
                <a:solidFill>
                  <a:srgbClr val="222222"/>
                </a:solidFill>
                <a:highlight>
                  <a:srgbClr val="FFFFFF"/>
                </a:highlight>
                <a:latin typeface="Arial"/>
                <a:ea typeface="Arial"/>
                <a:cs typeface="Arial"/>
                <a:sym typeface="Arial"/>
              </a:rPr>
              <a:t> is a cloud-based web development platform that was first developed and popularised by the </a:t>
            </a:r>
            <a:r>
              <a:rPr lang="ru" sz="1050">
                <a:solidFill>
                  <a:srgbClr val="0B0080"/>
                </a:solidFill>
                <a:highlight>
                  <a:srgbClr val="FFFFFF"/>
                </a:highlight>
                <a:uFill>
                  <a:noFill/>
                </a:uFill>
                <a:latin typeface="Arial"/>
                <a:ea typeface="Arial"/>
                <a:cs typeface="Arial"/>
                <a:sym typeface="Arial"/>
                <a:hlinkClick r:id="rId3"/>
              </a:rPr>
              <a:t>Israeli</a:t>
            </a:r>
            <a:r>
              <a:rPr lang="ru" sz="1050">
                <a:solidFill>
                  <a:srgbClr val="222222"/>
                </a:solidFill>
                <a:highlight>
                  <a:srgbClr val="FFFFFF"/>
                </a:highlight>
                <a:latin typeface="Arial"/>
                <a:ea typeface="Arial"/>
                <a:cs typeface="Arial"/>
                <a:sym typeface="Arial"/>
              </a:rPr>
              <a:t> company also called Wix. It allows users to create </a:t>
            </a:r>
            <a:r>
              <a:rPr lang="ru" sz="1050">
                <a:solidFill>
                  <a:srgbClr val="0B0080"/>
                </a:solidFill>
                <a:highlight>
                  <a:srgbClr val="FFFFFF"/>
                </a:highlight>
                <a:uFill>
                  <a:noFill/>
                </a:uFill>
                <a:latin typeface="Arial"/>
                <a:ea typeface="Arial"/>
                <a:cs typeface="Arial"/>
                <a:sym typeface="Arial"/>
                <a:hlinkClick r:id="rId4"/>
              </a:rPr>
              <a:t>HTML5</a:t>
            </a:r>
            <a:r>
              <a:rPr lang="ru" sz="1050">
                <a:solidFill>
                  <a:srgbClr val="222222"/>
                </a:solidFill>
                <a:highlight>
                  <a:srgbClr val="FFFFFF"/>
                </a:highlight>
                <a:latin typeface="Arial"/>
                <a:ea typeface="Arial"/>
                <a:cs typeface="Arial"/>
                <a:sym typeface="Arial"/>
              </a:rPr>
              <a:t> websites and </a:t>
            </a:r>
            <a:r>
              <a:rPr lang="ru" sz="1050">
                <a:solidFill>
                  <a:srgbClr val="0B0080"/>
                </a:solidFill>
                <a:highlight>
                  <a:srgbClr val="FFFFFF"/>
                </a:highlight>
                <a:uFill>
                  <a:noFill/>
                </a:uFill>
                <a:latin typeface="Arial"/>
                <a:ea typeface="Arial"/>
                <a:cs typeface="Arial"/>
                <a:sym typeface="Arial"/>
                <a:hlinkClick r:id="rId5"/>
              </a:rPr>
              <a:t>mobile</a:t>
            </a:r>
            <a:r>
              <a:rPr lang="ru" sz="1050">
                <a:solidFill>
                  <a:srgbClr val="222222"/>
                </a:solidFill>
                <a:highlight>
                  <a:srgbClr val="FFFFFF"/>
                </a:highlight>
                <a:latin typeface="Arial"/>
                <a:ea typeface="Arial"/>
                <a:cs typeface="Arial"/>
                <a:sym typeface="Arial"/>
              </a:rPr>
              <a:t> sites through the use of online </a:t>
            </a:r>
            <a:r>
              <a:rPr lang="ru" sz="1050">
                <a:solidFill>
                  <a:srgbClr val="0B0080"/>
                </a:solidFill>
                <a:highlight>
                  <a:srgbClr val="FFFFFF"/>
                </a:highlight>
                <a:uFill>
                  <a:noFill/>
                </a:uFill>
                <a:latin typeface="Arial"/>
                <a:ea typeface="Arial"/>
                <a:cs typeface="Arial"/>
                <a:sym typeface="Arial"/>
                <a:hlinkClick r:id="rId6"/>
              </a:rPr>
              <a:t>drag and drop</a:t>
            </a:r>
            <a:r>
              <a:rPr lang="ru" sz="1050">
                <a:solidFill>
                  <a:srgbClr val="222222"/>
                </a:solidFill>
                <a:highlight>
                  <a:srgbClr val="FFFFFF"/>
                </a:highlight>
                <a:latin typeface="Arial"/>
                <a:ea typeface="Arial"/>
                <a:cs typeface="Arial"/>
                <a:sym typeface="Arial"/>
              </a:rPr>
              <a:t> tools. Users must purchase premium packages in order to connect their sites to their own domains, remove Wix ads, access to form builder, add e-commerce capabilities, or buy extra data storage and bandwidth.Wix App Market offers both free and subscription-based applications, with a revenue split of 70% for the developer and 30 percent for Wix.</a:t>
            </a:r>
            <a:endParaRPr/>
          </a:p>
        </p:txBody>
      </p:sp>
      <p:pic>
        <p:nvPicPr>
          <p:cNvPr id="136" name="Google Shape;136;p14"/>
          <p:cNvPicPr preferRelativeResize="0"/>
          <p:nvPr/>
        </p:nvPicPr>
        <p:blipFill>
          <a:blip r:embed="rId7">
            <a:alphaModFix/>
          </a:blip>
          <a:stretch>
            <a:fillRect/>
          </a:stretch>
        </p:blipFill>
        <p:spPr>
          <a:xfrm>
            <a:off x="2190600" y="254124"/>
            <a:ext cx="4762801" cy="2112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0" name="Shape 140"/>
        <p:cNvGrpSpPr/>
        <p:nvPr/>
      </p:nvGrpSpPr>
      <p:grpSpPr>
        <a:xfrm>
          <a:off x="0" y="0"/>
          <a:ext cx="0" cy="0"/>
          <a:chOff x="0" y="0"/>
          <a:chExt cx="0" cy="0"/>
        </a:xfrm>
      </p:grpSpPr>
      <p:sp>
        <p:nvSpPr>
          <p:cNvPr id="141" name="Google Shape;141;p15"/>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5"/>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43" name="Google Shape;143;p15"/>
          <p:cNvPicPr preferRelativeResize="0"/>
          <p:nvPr/>
        </p:nvPicPr>
        <p:blipFill>
          <a:blip r:embed="rId3">
            <a:alphaModFix/>
          </a:blip>
          <a:stretch>
            <a:fillRect/>
          </a:stretch>
        </p:blipFill>
        <p:spPr>
          <a:xfrm>
            <a:off x="254400" y="555476"/>
            <a:ext cx="8262777" cy="41210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7" name="Shape 147"/>
        <p:cNvGrpSpPr/>
        <p:nvPr/>
      </p:nvGrpSpPr>
      <p:grpSpPr>
        <a:xfrm>
          <a:off x="0" y="0"/>
          <a:ext cx="0" cy="0"/>
          <a:chOff x="0" y="0"/>
          <a:chExt cx="0" cy="0"/>
        </a:xfrm>
      </p:grpSpPr>
      <p:sp>
        <p:nvSpPr>
          <p:cNvPr id="148" name="Google Shape;148;p16"/>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6"/>
          <p:cNvSpPr txBox="1"/>
          <p:nvPr>
            <p:ph idx="1" type="body"/>
          </p:nvPr>
        </p:nvSpPr>
        <p:spPr>
          <a:xfrm>
            <a:off x="874575" y="24452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0"/>
              </a:spcAft>
              <a:buNone/>
            </a:pPr>
            <a:r>
              <a:rPr lang="ru"/>
              <a:t>Portfoliobox.net -a tool for creating an online portfolio of photographers, designers, artists, stylists, models, and architects. The site is translated into Russian. It is possible to connect an online store, block, download videos. Up to 50 images can be placed for free.</a:t>
            </a:r>
            <a:endParaRPr/>
          </a:p>
          <a:p>
            <a:pPr indent="0" lvl="0" marL="0" rtl="0" algn="l">
              <a:spcBef>
                <a:spcPts val="1600"/>
              </a:spcBef>
              <a:spcAft>
                <a:spcPts val="1600"/>
              </a:spcAft>
              <a:buNone/>
            </a:pPr>
            <a:r>
              <a:t/>
            </a:r>
            <a:endParaRPr/>
          </a:p>
        </p:txBody>
      </p:sp>
      <p:pic>
        <p:nvPicPr>
          <p:cNvPr id="150" name="Google Shape;150;p16"/>
          <p:cNvPicPr preferRelativeResize="0"/>
          <p:nvPr/>
        </p:nvPicPr>
        <p:blipFill>
          <a:blip r:embed="rId3">
            <a:alphaModFix/>
          </a:blip>
          <a:stretch>
            <a:fillRect/>
          </a:stretch>
        </p:blipFill>
        <p:spPr>
          <a:xfrm>
            <a:off x="1343775" y="534550"/>
            <a:ext cx="6127626" cy="2037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4" name="Shape 154"/>
        <p:cNvGrpSpPr/>
        <p:nvPr/>
      </p:nvGrpSpPr>
      <p:grpSpPr>
        <a:xfrm>
          <a:off x="0" y="0"/>
          <a:ext cx="0" cy="0"/>
          <a:chOff x="0" y="0"/>
          <a:chExt cx="0" cy="0"/>
        </a:xfrm>
      </p:grpSpPr>
      <p:sp>
        <p:nvSpPr>
          <p:cNvPr id="155" name="Google Shape;155;p17"/>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7"/>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57" name="Google Shape;157;p17"/>
          <p:cNvPicPr preferRelativeResize="0"/>
          <p:nvPr/>
        </p:nvPicPr>
        <p:blipFill>
          <a:blip r:embed="rId3">
            <a:alphaModFix/>
          </a:blip>
          <a:stretch>
            <a:fillRect/>
          </a:stretch>
        </p:blipFill>
        <p:spPr>
          <a:xfrm>
            <a:off x="59625" y="312900"/>
            <a:ext cx="9084374" cy="41258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1" name="Shape 161"/>
        <p:cNvGrpSpPr/>
        <p:nvPr/>
      </p:nvGrpSpPr>
      <p:grpSpPr>
        <a:xfrm>
          <a:off x="0" y="0"/>
          <a:ext cx="0" cy="0"/>
          <a:chOff x="0" y="0"/>
          <a:chExt cx="0" cy="0"/>
        </a:xfrm>
      </p:grpSpPr>
      <p:sp>
        <p:nvSpPr>
          <p:cNvPr id="162" name="Google Shape;162;p18"/>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8"/>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64" name="Google Shape;164;p18"/>
          <p:cNvPicPr preferRelativeResize="0"/>
          <p:nvPr/>
        </p:nvPicPr>
        <p:blipFill>
          <a:blip r:embed="rId3">
            <a:alphaModFix/>
          </a:blip>
          <a:stretch>
            <a:fillRect/>
          </a:stretch>
        </p:blipFill>
        <p:spPr>
          <a:xfrm>
            <a:off x="309725" y="647075"/>
            <a:ext cx="8834275" cy="3989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8" name="Shape 168"/>
        <p:cNvGrpSpPr/>
        <p:nvPr/>
      </p:nvGrpSpPr>
      <p:grpSpPr>
        <a:xfrm>
          <a:off x="0" y="0"/>
          <a:ext cx="0" cy="0"/>
          <a:chOff x="0" y="0"/>
          <a:chExt cx="0" cy="0"/>
        </a:xfrm>
      </p:grpSpPr>
      <p:sp>
        <p:nvSpPr>
          <p:cNvPr id="169" name="Google Shape;169;p19"/>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9"/>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200">
                <a:highlight>
                  <a:srgbClr val="FFFFFF"/>
                </a:highlight>
                <a:latin typeface="Arial"/>
                <a:ea typeface="Arial"/>
                <a:cs typeface="Arial"/>
                <a:sym typeface="Arial"/>
              </a:rPr>
              <a:t>Myportfolio.com – a platform for creating websites aimed at designers and photographers. Portfolio is free for Adobe Creative Cloud users.</a:t>
            </a:r>
            <a:endParaRPr sz="1200">
              <a:highlight>
                <a:srgbClr val="FFFFFF"/>
              </a:highlight>
              <a:latin typeface="Arial"/>
              <a:ea typeface="Arial"/>
              <a:cs typeface="Arial"/>
              <a:sym typeface="Arial"/>
            </a:endParaRPr>
          </a:p>
          <a:p>
            <a:pPr indent="0" lvl="0" marL="0" rtl="0" algn="l">
              <a:spcBef>
                <a:spcPts val="1600"/>
              </a:spcBef>
              <a:spcAft>
                <a:spcPts val="0"/>
              </a:spcAft>
              <a:buNone/>
            </a:pPr>
            <a:r>
              <a:t/>
            </a:r>
            <a:endParaRPr sz="1200">
              <a:highlight>
                <a:srgbClr val="FFFFFF"/>
              </a:highlight>
              <a:latin typeface="Arial"/>
              <a:ea typeface="Arial"/>
              <a:cs typeface="Arial"/>
              <a:sym typeface="Arial"/>
            </a:endParaRPr>
          </a:p>
          <a:p>
            <a:pPr indent="0" lvl="0" marL="0" rtl="0" algn="l">
              <a:spcBef>
                <a:spcPts val="1600"/>
              </a:spcBef>
              <a:spcAft>
                <a:spcPts val="1600"/>
              </a:spcAft>
              <a:buNone/>
            </a:pPr>
            <a:r>
              <a:t/>
            </a:r>
            <a:endParaRPr sz="1200">
              <a:highlight>
                <a:srgbClr val="FFFFFF"/>
              </a:highlight>
              <a:latin typeface="Arial"/>
              <a:ea typeface="Arial"/>
              <a:cs typeface="Arial"/>
              <a:sym typeface="Arial"/>
            </a:endParaRPr>
          </a:p>
        </p:txBody>
      </p:sp>
      <p:pic>
        <p:nvPicPr>
          <p:cNvPr id="171" name="Google Shape;171;p19"/>
          <p:cNvPicPr preferRelativeResize="0"/>
          <p:nvPr/>
        </p:nvPicPr>
        <p:blipFill>
          <a:blip r:embed="rId3">
            <a:alphaModFix/>
          </a:blip>
          <a:stretch>
            <a:fillRect/>
          </a:stretch>
        </p:blipFill>
        <p:spPr>
          <a:xfrm>
            <a:off x="1607275" y="657200"/>
            <a:ext cx="5619750" cy="1143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5" name="Shape 175"/>
        <p:cNvGrpSpPr/>
        <p:nvPr/>
      </p:nvGrpSpPr>
      <p:grpSpPr>
        <a:xfrm>
          <a:off x="0" y="0"/>
          <a:ext cx="0" cy="0"/>
          <a:chOff x="0" y="0"/>
          <a:chExt cx="0" cy="0"/>
        </a:xfrm>
      </p:grpSpPr>
      <p:sp>
        <p:nvSpPr>
          <p:cNvPr id="176" name="Google Shape;176;p20"/>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0"/>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78" name="Google Shape;178;p20"/>
          <p:cNvPicPr preferRelativeResize="0"/>
          <p:nvPr/>
        </p:nvPicPr>
        <p:blipFill>
          <a:blip r:embed="rId3">
            <a:alphaModFix/>
          </a:blip>
          <a:stretch>
            <a:fillRect/>
          </a:stretch>
        </p:blipFill>
        <p:spPr>
          <a:xfrm>
            <a:off x="0" y="473875"/>
            <a:ext cx="9144000" cy="41957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2" name="Shape 182"/>
        <p:cNvGrpSpPr/>
        <p:nvPr/>
      </p:nvGrpSpPr>
      <p:grpSpPr>
        <a:xfrm>
          <a:off x="0" y="0"/>
          <a:ext cx="0" cy="0"/>
          <a:chOff x="0" y="0"/>
          <a:chExt cx="0" cy="0"/>
        </a:xfrm>
      </p:grpSpPr>
      <p:sp>
        <p:nvSpPr>
          <p:cNvPr id="183" name="Google Shape;183;p21"/>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1"/>
          <p:cNvSpPr txBox="1"/>
          <p:nvPr>
            <p:ph idx="1" type="body"/>
          </p:nvPr>
        </p:nvSpPr>
        <p:spPr>
          <a:xfrm>
            <a:off x="819150" y="332727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ru"/>
              <a:t>Squarespace.com -site Builder. It has a wide range of functionality (you can deploy a photo gallery, online store, landing page, blog, etc.).</a:t>
            </a:r>
            <a:endParaRPr/>
          </a:p>
        </p:txBody>
      </p:sp>
      <p:pic>
        <p:nvPicPr>
          <p:cNvPr id="185" name="Google Shape;185;p21"/>
          <p:cNvPicPr preferRelativeResize="0"/>
          <p:nvPr/>
        </p:nvPicPr>
        <p:blipFill>
          <a:blip r:embed="rId3">
            <a:alphaModFix/>
          </a:blip>
          <a:stretch>
            <a:fillRect/>
          </a:stretch>
        </p:blipFill>
        <p:spPr>
          <a:xfrm>
            <a:off x="1321350" y="389225"/>
            <a:ext cx="6501300" cy="2448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9" name="Shape 189"/>
        <p:cNvGrpSpPr/>
        <p:nvPr/>
      </p:nvGrpSpPr>
      <p:grpSpPr>
        <a:xfrm>
          <a:off x="0" y="0"/>
          <a:ext cx="0" cy="0"/>
          <a:chOff x="0" y="0"/>
          <a:chExt cx="0" cy="0"/>
        </a:xfrm>
      </p:grpSpPr>
      <p:sp>
        <p:nvSpPr>
          <p:cNvPr id="190" name="Google Shape;190;p22"/>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2"/>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92" name="Google Shape;192;p22"/>
          <p:cNvPicPr preferRelativeResize="0"/>
          <p:nvPr/>
        </p:nvPicPr>
        <p:blipFill>
          <a:blip r:embed="rId3">
            <a:alphaModFix/>
          </a:blip>
          <a:stretch>
            <a:fillRect/>
          </a:stretch>
        </p:blipFill>
        <p:spPr>
          <a:xfrm>
            <a:off x="0" y="171450"/>
            <a:ext cx="9144000" cy="4800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6" name="Shape 196"/>
        <p:cNvGrpSpPr/>
        <p:nvPr/>
      </p:nvGrpSpPr>
      <p:grpSpPr>
        <a:xfrm>
          <a:off x="0" y="0"/>
          <a:ext cx="0" cy="0"/>
          <a:chOff x="0" y="0"/>
          <a:chExt cx="0" cy="0"/>
        </a:xfrm>
      </p:grpSpPr>
      <p:sp>
        <p:nvSpPr>
          <p:cNvPr id="197" name="Google Shape;197;p23"/>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3"/>
          <p:cNvSpPr txBox="1"/>
          <p:nvPr>
            <p:ph idx="1" type="body"/>
          </p:nvPr>
        </p:nvSpPr>
        <p:spPr>
          <a:xfrm>
            <a:off x="819150" y="2970825"/>
            <a:ext cx="7505700" cy="1467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ru"/>
              <a:t>Krop.com -platform for creating websites-portfolio of designers, illustrators, and photographers. The service is paid.</a:t>
            </a:r>
            <a:endParaRPr/>
          </a:p>
        </p:txBody>
      </p:sp>
      <p:pic>
        <p:nvPicPr>
          <p:cNvPr id="199" name="Google Shape;199;p23"/>
          <p:cNvPicPr preferRelativeResize="0"/>
          <p:nvPr/>
        </p:nvPicPr>
        <p:blipFill>
          <a:blip r:embed="rId3">
            <a:alphaModFix/>
          </a:blip>
          <a:stretch>
            <a:fillRect/>
          </a:stretch>
        </p:blipFill>
        <p:spPr>
          <a:xfrm>
            <a:off x="2538500" y="-12"/>
            <a:ext cx="3934000" cy="29973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3" name="Shape 203"/>
        <p:cNvGrpSpPr/>
        <p:nvPr/>
      </p:nvGrpSpPr>
      <p:grpSpPr>
        <a:xfrm>
          <a:off x="0" y="0"/>
          <a:ext cx="0" cy="0"/>
          <a:chOff x="0" y="0"/>
          <a:chExt cx="0" cy="0"/>
        </a:xfrm>
      </p:grpSpPr>
      <p:sp>
        <p:nvSpPr>
          <p:cNvPr id="204" name="Google Shape;204;p24"/>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4"/>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06" name="Google Shape;206;p24"/>
          <p:cNvPicPr preferRelativeResize="0"/>
          <p:nvPr/>
        </p:nvPicPr>
        <p:blipFill>
          <a:blip r:embed="rId3">
            <a:alphaModFix/>
          </a:blip>
          <a:stretch>
            <a:fillRect/>
          </a:stretch>
        </p:blipFill>
        <p:spPr>
          <a:xfrm>
            <a:off x="110850" y="403913"/>
            <a:ext cx="8922298" cy="43356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0" name="Shape 210"/>
        <p:cNvGrpSpPr/>
        <p:nvPr/>
      </p:nvGrpSpPr>
      <p:grpSpPr>
        <a:xfrm>
          <a:off x="0" y="0"/>
          <a:ext cx="0" cy="0"/>
          <a:chOff x="0" y="0"/>
          <a:chExt cx="0" cy="0"/>
        </a:xfrm>
      </p:grpSpPr>
      <p:sp>
        <p:nvSpPr>
          <p:cNvPr id="211" name="Google Shape;211;p25"/>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5"/>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ru"/>
              <a:t>the end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